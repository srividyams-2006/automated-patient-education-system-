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70" r:id="rId12"/>
    <p:sldId id="271" r:id="rId13"/>
    <p:sldId id="263" r:id="rId14"/>
    <p:sldId id="264" r:id="rId15"/>
    <p:sldId id="265" r:id="rId16"/>
    <p:sldId id="266" r:id="rId17"/>
  </p:sldIdLst>
  <p:sldSz cx="14630400" cy="8229600"/>
  <p:notesSz cx="8229600" cy="146304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consolata" pitchFamily="1" charset="0"/>
      <p:regular r:id="rId23"/>
    </p:embeddedFont>
    <p:embeddedFont>
      <p:font typeface="Montserrat Black" panose="00000A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216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remedium.in/importance-of-interactive-patient-educati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hyperlink" Target="https://logicloom.in/interactive-patient-education-tools-a-game-changer-in-healthcar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ogicloom.in/interactive-patient-education-tools-a-game-changer-in-healthcar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1.sv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hyperlink" Target="https://eremedium.in/importance-of-interactive-patient-education" TargetMode="External"/><Relationship Id="rId9" Type="http://schemas.openxmlformats.org/officeDocument/2006/relationships/hyperlink" Target="https://logicloom.in/interactive-patient-education-tools-a-game-changer-in-healthcar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002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Automated Patient Education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579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910D0D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PRESENTED BY</a:t>
            </a:r>
            <a:r>
              <a:rPr lang="en-US" sz="175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SRIVIDYA MS(1CR25CD058)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5760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   VAIBHAV RANJAN(1CR25CD062)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   SYED AAUSAF(1CR25CD059)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910D0D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FACULTY GUIDE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:PROF SHANU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CMR INSTITUTE OF TECHNOLOGY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60482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ACADEMIC YEAR:2025-2029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66663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    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3485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Empowering Patients, Transforming Healthcare (India)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506039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 the evolving landscape of Indian healthcare, an automated patient education system emerges as a pivotal tool. This presentation outlines a comprehensive solution designed to bridge the knowledge gap, empower patients, and ultimately elevate healthcare outcomes across the nation.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7573" y="461605"/>
            <a:ext cx="12724567" cy="52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Challenge: Bridging the Healthcare Knowledge Gap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87573" y="1426845"/>
            <a:ext cx="6522839" cy="1586984"/>
          </a:xfrm>
          <a:prstGeom prst="roundRect">
            <a:avLst>
              <a:gd name="adj" fmla="val 57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763072" y="1602343"/>
            <a:ext cx="3358753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Complex Medical Information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3072" y="2032516"/>
            <a:ext cx="6171843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Patients often struggle to comprehend intricate medical details, diagnoses, and treatment plans, leading to confusion and anxiety. </a:t>
            </a:r>
            <a:r>
              <a:rPr lang="en-US" sz="130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eremedium.in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7573" y="3181707"/>
            <a:ext cx="6522839" cy="1586984"/>
          </a:xfrm>
          <a:prstGeom prst="roundRect">
            <a:avLst>
              <a:gd name="adj" fmla="val 57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763072" y="3357205"/>
            <a:ext cx="3295888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Poor Adherence &amp; Outcomes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3072" y="3787378"/>
            <a:ext cx="6171843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lack of understanding frequently results in poor treatment adherence, adverse health outcomes, and a subsequent increase in healthcare costs. </a:t>
            </a:r>
            <a:r>
              <a:rPr lang="en-US" sz="130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eremedium.in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7573" y="4936569"/>
            <a:ext cx="6522839" cy="1318379"/>
          </a:xfrm>
          <a:prstGeom prst="roundRect">
            <a:avLst>
              <a:gd name="adj" fmla="val 694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763072" y="5112068"/>
            <a:ext cx="3592949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Ineffective Traditional Methods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3072" y="5542240"/>
            <a:ext cx="6171843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Outdated methods like paper pamphlets are largely ineffective in engaging patients and conveying critical health information. </a:t>
            </a:r>
            <a:r>
              <a:rPr lang="en-US" sz="130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logicloom.in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7608" y="1426845"/>
            <a:ext cx="6522839" cy="65228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511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256" y="3112651"/>
            <a:ext cx="13201888" cy="127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Introducing: The Automated Patient Education System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4256" y="4694396"/>
            <a:ext cx="4264581" cy="2973705"/>
          </a:xfrm>
          <a:prstGeom prst="roundRect">
            <a:avLst>
              <a:gd name="adj" fmla="val 369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2"/>
          <p:cNvSpPr/>
          <p:nvPr/>
        </p:nvSpPr>
        <p:spPr>
          <a:xfrm>
            <a:off x="691396" y="4694396"/>
            <a:ext cx="91440" cy="2973705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1009769" y="4921329"/>
            <a:ext cx="3497223" cy="38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AI-Powered Platform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09769" y="5426273"/>
            <a:ext cx="3742134" cy="1305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sophisticated, AI-driven system designed to deliver highly personalised health information and support.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82910" y="4694396"/>
            <a:ext cx="4264581" cy="2973705"/>
          </a:xfrm>
          <a:prstGeom prst="roundRect">
            <a:avLst>
              <a:gd name="adj" fmla="val 369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6"/>
          <p:cNvSpPr/>
          <p:nvPr/>
        </p:nvSpPr>
        <p:spPr>
          <a:xfrm>
            <a:off x="5160050" y="4694396"/>
            <a:ext cx="91440" cy="2973705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5478423" y="4921329"/>
            <a:ext cx="3702248" cy="38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Accessible &amp; Adaptive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478423" y="5426273"/>
            <a:ext cx="3742134" cy="1305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Seamless access via web and mobile interfaces, catering to the diverse needs and digital literacy levels of patients across India.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651563" y="4694396"/>
            <a:ext cx="4264581" cy="2973705"/>
          </a:xfrm>
          <a:prstGeom prst="roundRect">
            <a:avLst>
              <a:gd name="adj" fmla="val 369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0"/>
          <p:cNvSpPr/>
          <p:nvPr/>
        </p:nvSpPr>
        <p:spPr>
          <a:xfrm>
            <a:off x="9628703" y="4694396"/>
            <a:ext cx="91440" cy="2973705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1"/>
          <p:cNvSpPr/>
          <p:nvPr/>
        </p:nvSpPr>
        <p:spPr>
          <a:xfrm>
            <a:off x="9947077" y="4921329"/>
            <a:ext cx="3742134" cy="7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Enhanced Health Outcomes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947077" y="5808821"/>
            <a:ext cx="3742134" cy="1632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Our primary focus is on significantly improving patient understanding, fostering engagement, and ultimately achieving superior health outcomes.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2222" y="1211342"/>
            <a:ext cx="11503938" cy="564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Features: Powering Patient Empowerment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955483" y="2137053"/>
            <a:ext cx="1848922" cy="101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Conversational AI Chatbot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955483" y="3261598"/>
            <a:ext cx="1848922" cy="346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Provides real-time Q&amp;A, offering instant answers to common medical queries and supporting multiple regional Indian languages. </a:t>
            </a:r>
            <a:r>
              <a:rPr lang="en-US" sz="140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logicloom.in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(E.g., "What are the side effects of this medication?")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53407" y="2137053"/>
            <a:ext cx="1848922" cy="101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Visual Learning Aids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353407" y="3261598"/>
            <a:ext cx="1848922" cy="2889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Simplifies complex medical concepts through engaging infographics, animations, and interactive charts. </a:t>
            </a:r>
            <a:r>
              <a:rPr lang="en-US" sz="140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logicloom.in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(E.g., Animated videos explaining a surgical procedure.)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51332" y="2137053"/>
            <a:ext cx="1848922" cy="101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Personalised Learning Paths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51332" y="3261598"/>
            <a:ext cx="1848922" cy="375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Delivers content tailored to individual patient profiles and specific medical conditions, ensuring relevance and effectiveness. </a:t>
            </a:r>
            <a:r>
              <a:rPr lang="en-US" sz="140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logicloom.in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(E.g., Diabetes patients receive tailored meal plans and exercise tips.)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149257" y="2137053"/>
            <a:ext cx="1848922" cy="101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Integration with Patient Portals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149257" y="3261598"/>
            <a:ext cx="1848922" cy="2311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Offers real-time updates on lab results, medications, and health data, providing context-specific resources. logicloom.in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42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3282" y="426839"/>
            <a:ext cx="8057436" cy="97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Benefits: Transforming Healthcare Delivery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543282" y="1629966"/>
            <a:ext cx="8057436" cy="6177439"/>
          </a:xfrm>
          <a:prstGeom prst="roundRect">
            <a:avLst>
              <a:gd name="adj" fmla="val 14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2"/>
          <p:cNvSpPr/>
          <p:nvPr/>
        </p:nvSpPr>
        <p:spPr>
          <a:xfrm>
            <a:off x="550902" y="1637586"/>
            <a:ext cx="8042196" cy="1424107"/>
          </a:xfrm>
          <a:prstGeom prst="roundRect">
            <a:avLst>
              <a:gd name="adj" fmla="val 642"/>
            </a:avLst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706041" y="1792724"/>
            <a:ext cx="356282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Improved Patient Outcomes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06041" y="2176939"/>
            <a:ext cx="7731919" cy="49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Enhanced understanding directly correlates with better adherence to treatment plans and faster recovery. </a:t>
            </a:r>
            <a:r>
              <a:rPr lang="en-US" sz="120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eremedium.in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0902" y="3061692"/>
            <a:ext cx="8042196" cy="1656993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Shape 6"/>
          <p:cNvSpPr/>
          <p:nvPr/>
        </p:nvSpPr>
        <p:spPr>
          <a:xfrm>
            <a:off x="550902" y="3061692"/>
            <a:ext cx="8042196" cy="22860"/>
          </a:xfrm>
          <a:prstGeom prst="roundRect">
            <a:avLst>
              <a:gd name="adj" fmla="val 40000"/>
            </a:avLst>
          </a:prstGeom>
          <a:solidFill>
            <a:srgbClr val="2E2F3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Shape 7"/>
          <p:cNvSpPr/>
          <p:nvPr/>
        </p:nvSpPr>
        <p:spPr>
          <a:xfrm>
            <a:off x="4377928" y="2879110"/>
            <a:ext cx="388025" cy="388025"/>
          </a:xfrm>
          <a:prstGeom prst="roundRect">
            <a:avLst>
              <a:gd name="adj" fmla="val 2357"/>
            </a:avLst>
          </a:prstGeom>
          <a:solidFill>
            <a:srgbClr val="F8ECE4"/>
          </a:solidFill>
          <a:ln w="22860">
            <a:solidFill>
              <a:srgbClr val="2E2F30"/>
            </a:solidFill>
            <a:prstDash val="solid"/>
          </a:ln>
          <a:effectLst>
            <a:outerShdw dist="13970" dir="2700000" algn="bl" rotWithShape="0">
              <a:srgbClr val="2E2F30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4964" y="2976146"/>
            <a:ext cx="193953" cy="1939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041" y="3449717"/>
            <a:ext cx="39268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Increased Patient Engagement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06041" y="3833932"/>
            <a:ext cx="7731919" cy="49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Interactive tools motivate patients to actively participate in their own healthcare journey. </a:t>
            </a:r>
            <a:r>
              <a:rPr lang="en-US" sz="120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eremedium.in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50902" y="4718685"/>
            <a:ext cx="8042196" cy="1656993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Shape 11"/>
          <p:cNvSpPr/>
          <p:nvPr/>
        </p:nvSpPr>
        <p:spPr>
          <a:xfrm>
            <a:off x="550902" y="4718685"/>
            <a:ext cx="8042196" cy="22860"/>
          </a:xfrm>
          <a:prstGeom prst="roundRect">
            <a:avLst>
              <a:gd name="adj" fmla="val 40000"/>
            </a:avLst>
          </a:prstGeom>
          <a:solidFill>
            <a:srgbClr val="2E2F3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Shape 12"/>
          <p:cNvSpPr/>
          <p:nvPr/>
        </p:nvSpPr>
        <p:spPr>
          <a:xfrm>
            <a:off x="4377928" y="4536103"/>
            <a:ext cx="388025" cy="388025"/>
          </a:xfrm>
          <a:prstGeom prst="roundRect">
            <a:avLst>
              <a:gd name="adj" fmla="val 2357"/>
            </a:avLst>
          </a:prstGeom>
          <a:solidFill>
            <a:srgbClr val="F8ECE4"/>
          </a:solidFill>
          <a:ln w="22860">
            <a:solidFill>
              <a:srgbClr val="2E2F30"/>
            </a:solidFill>
            <a:prstDash val="solid"/>
          </a:ln>
          <a:effectLst>
            <a:outerShdw dist="13970" dir="2700000" algn="bl" rotWithShape="0">
              <a:srgbClr val="2E2F30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4964" y="4633139"/>
            <a:ext cx="193953" cy="19395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6041" y="5106710"/>
            <a:ext cx="3327678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Reduced Healthcare Costs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706041" y="5490924"/>
            <a:ext cx="7731919" cy="49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By preventing readmissions and complications, the system contributes to significant cost savings. </a:t>
            </a:r>
            <a:r>
              <a:rPr lang="en-US" sz="120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logicloom.in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50902" y="6375678"/>
            <a:ext cx="8042196" cy="1424107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Shape 16"/>
          <p:cNvSpPr/>
          <p:nvPr/>
        </p:nvSpPr>
        <p:spPr>
          <a:xfrm>
            <a:off x="550902" y="6375678"/>
            <a:ext cx="8042196" cy="22860"/>
          </a:xfrm>
          <a:prstGeom prst="roundRect">
            <a:avLst>
              <a:gd name="adj" fmla="val 40000"/>
            </a:avLst>
          </a:prstGeom>
          <a:solidFill>
            <a:srgbClr val="2E2F3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Shape 17"/>
          <p:cNvSpPr/>
          <p:nvPr/>
        </p:nvSpPr>
        <p:spPr>
          <a:xfrm>
            <a:off x="4377928" y="6193095"/>
            <a:ext cx="388025" cy="388025"/>
          </a:xfrm>
          <a:prstGeom prst="roundRect">
            <a:avLst>
              <a:gd name="adj" fmla="val 2357"/>
            </a:avLst>
          </a:prstGeom>
          <a:solidFill>
            <a:srgbClr val="F8ECE4"/>
          </a:solidFill>
          <a:ln w="22860">
            <a:solidFill>
              <a:srgbClr val="2E2F30"/>
            </a:solidFill>
            <a:prstDash val="solid"/>
          </a:ln>
          <a:effectLst>
            <a:outerShdw dist="13970" dir="2700000" algn="bl" rotWithShape="0">
              <a:srgbClr val="2E2F30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74964" y="6290131"/>
            <a:ext cx="193953" cy="19395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6041" y="6763703"/>
            <a:ext cx="3743682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Enhanced Provider Efficiency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06041" y="7147917"/>
            <a:ext cx="7731919" cy="49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Automating routine queries frees up healthcare professionals to focus on critical patient care. logicloom.in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4175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35" y="1729383"/>
            <a:ext cx="69159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Website Creation: Code Snippets (Simplified)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6835" y="225373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Building the front-end for the Automated Patient Education System involves fundamental web technologies. Here are simplified HTML snippets to illustrate the basic structure.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6835" y="2605207"/>
            <a:ext cx="261399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HTML (Basic Structure):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03504" y="2842774"/>
            <a:ext cx="13836729" cy="1584261"/>
          </a:xfrm>
          <a:prstGeom prst="roundRect">
            <a:avLst>
              <a:gd name="adj" fmla="val 144"/>
            </a:avLst>
          </a:prstGeom>
          <a:solidFill>
            <a:srgbClr val="EBDFD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504587" y="3072885"/>
            <a:ext cx="13621226" cy="135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html&gt;&lt;html lang="en"&gt;&lt;head&gt; &lt;meta charset="UTF-8"&gt; &lt;meta name="viewport" content="width=device-width, initial-scale=1.0"&gt; &lt;title&gt;Patient Education System&lt;/title&gt; &lt;link rel="stylesheet" href="style.css"&gt;&lt;/head&gt;&lt;body&gt; &lt;header&gt; &lt;h1&gt;Automated Patient Education&lt;/h1&gt; &lt;nav&gt; &lt;a href="#features"&gt;Features&lt;/a&gt; &lt;a href="#chatbot"&gt;Chatbot&lt;/a&gt; &lt;a href="#resources"&gt;Resources&lt;/a&gt; &lt;/nav&gt; &lt;/header&gt; &lt;main&gt; &lt;section id="hero"&gt; &lt;h2&gt;Empowering You Through Knowledge&lt;/h2&gt; &lt;p&gt;Personalised health information at your fingertips.&lt;/p&gt; &lt;button&gt;Get Started&lt;/button&gt; &lt;/section&gt; &lt;section id="features"&gt; &lt;!-- Feature cards go here --&gt; &lt;/section&gt; &lt;/main&gt; &lt;footer&gt; &lt;p&gt;&amp;copy; 2024 Automated Patient Education. All rights reserved.&lt;/p&gt; &lt;/footer&gt; &lt;script src="script.js"&gt;&lt;/script&gt;&lt;/body&gt;&lt;/html</a:t>
            </a:r>
            <a:r>
              <a:rPr lang="en-US" sz="8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532CCD-28F1-80E6-7785-85DA666744CA}"/>
              </a:ext>
            </a:extLst>
          </p:cNvPr>
          <p:cNvSpPr txBox="1"/>
          <p:nvPr/>
        </p:nvSpPr>
        <p:spPr>
          <a:xfrm>
            <a:off x="0" y="100361"/>
            <a:ext cx="146304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Code used in making Quiz:</a:t>
            </a:r>
          </a:p>
          <a:p>
            <a:r>
              <a:rPr lang="en-US" sz="1600" dirty="0"/>
              <a:t>:backend</a:t>
            </a:r>
          </a:p>
          <a:p>
            <a:r>
              <a:rPr lang="en-US" sz="1600" dirty="0"/>
              <a:t>::server.py</a:t>
            </a:r>
          </a:p>
          <a:p>
            <a:r>
              <a:rPr lang="en-IN" sz="1200" dirty="0"/>
              <a:t>from flask import Flask, jsonify</a:t>
            </a:r>
          </a:p>
          <a:p>
            <a:r>
              <a:rPr lang="en-IN" sz="1200" dirty="0"/>
              <a:t>from flask_cors import CORS</a:t>
            </a:r>
          </a:p>
          <a:p>
            <a:endParaRPr lang="en-IN" sz="1200" dirty="0"/>
          </a:p>
          <a:p>
            <a:r>
              <a:rPr lang="en-IN" sz="1200" dirty="0"/>
              <a:t>app = Flask(__name__)</a:t>
            </a:r>
          </a:p>
          <a:p>
            <a:r>
              <a:rPr lang="en-IN" sz="1200" dirty="0"/>
              <a:t>CORS(app)</a:t>
            </a:r>
          </a:p>
          <a:p>
            <a:endParaRPr lang="en-IN" sz="1200" dirty="0"/>
          </a:p>
          <a:p>
            <a:r>
              <a:rPr lang="en-IN" sz="1200" dirty="0"/>
              <a:t>data = {</a:t>
            </a:r>
          </a:p>
          <a:p>
            <a:r>
              <a:rPr lang="en-IN" sz="1200" dirty="0"/>
              <a:t>    "covid": {</a:t>
            </a:r>
          </a:p>
          <a:p>
            <a:r>
              <a:rPr lang="en-IN" sz="1200" dirty="0"/>
              <a:t>        "name": "COVID-19",</a:t>
            </a:r>
          </a:p>
          <a:p>
            <a:r>
              <a:rPr lang="en-IN" sz="1200" dirty="0"/>
              <a:t>        "diagnosis": "RT-PCR Test",</a:t>
            </a:r>
          </a:p>
          <a:p>
            <a:r>
              <a:rPr lang="en-IN" sz="1200" dirty="0"/>
              <a:t>        "symptoms": ["Fever", "Cough", "Breathing difficulty"],</a:t>
            </a:r>
          </a:p>
          <a:p>
            <a:r>
              <a:rPr lang="en-IN" sz="1200" dirty="0"/>
              <a:t>        "precautions": ["Mask", "Distance", "Sanitize"],</a:t>
            </a:r>
          </a:p>
          <a:p>
            <a:r>
              <a:rPr lang="en-IN" sz="1200" dirty="0"/>
              <a:t>        "treatment": ["Rest", "Fluids", "Supportive care"],</a:t>
            </a:r>
          </a:p>
          <a:p>
            <a:r>
              <a:rPr lang="en-IN" sz="1200" dirty="0"/>
              <a:t>        "diet": ["Fruits", "Warm liquids"]</a:t>
            </a:r>
          </a:p>
          <a:p>
            <a:r>
              <a:rPr lang="en-IN" sz="1200" dirty="0"/>
              <a:t>    },</a:t>
            </a:r>
          </a:p>
          <a:p>
            <a:endParaRPr lang="en-IN" sz="1200" dirty="0"/>
          </a:p>
          <a:p>
            <a:r>
              <a:rPr lang="en-IN" sz="1200" dirty="0"/>
              <a:t>    "diabetes": {</a:t>
            </a:r>
          </a:p>
          <a:p>
            <a:r>
              <a:rPr lang="en-IN" sz="1200" dirty="0"/>
              <a:t>        "name": "Diabetes",</a:t>
            </a:r>
          </a:p>
          <a:p>
            <a:r>
              <a:rPr lang="en-IN" sz="1200" dirty="0"/>
              <a:t>        "diagnosis": "Fasting Blood Sugar Test",</a:t>
            </a:r>
          </a:p>
          <a:p>
            <a:r>
              <a:rPr lang="en-IN" sz="1200" dirty="0"/>
              <a:t>        "symptoms": ["Fatigue", "Frequent urination"],</a:t>
            </a:r>
          </a:p>
          <a:p>
            <a:r>
              <a:rPr lang="en-IN" sz="1200" dirty="0"/>
              <a:t>        "precautions": ["Avoid sugar", "Exercise"],</a:t>
            </a:r>
          </a:p>
          <a:p>
            <a:r>
              <a:rPr lang="en-IN" sz="1200" dirty="0"/>
              <a:t>        "treatment": ["Metformin"],</a:t>
            </a:r>
          </a:p>
          <a:p>
            <a:r>
              <a:rPr lang="en-IN" sz="1200" dirty="0"/>
              <a:t>        "diet": ["Low sugar food", "High fiber"]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}</a:t>
            </a:r>
          </a:p>
          <a:p>
            <a:endParaRPr lang="en-IN" sz="1200" dirty="0"/>
          </a:p>
          <a:p>
            <a:r>
              <a:rPr lang="en-IN" sz="1200" dirty="0"/>
              <a:t>@app.route("/disease/&lt;name&gt;")</a:t>
            </a:r>
          </a:p>
          <a:p>
            <a:r>
              <a:rPr lang="en-IN" sz="1200" dirty="0"/>
              <a:t>def disease(name):</a:t>
            </a:r>
          </a:p>
          <a:p>
            <a:r>
              <a:rPr lang="en-IN" sz="1200" dirty="0"/>
              <a:t>    return jsonify(data.get(name, {}))</a:t>
            </a:r>
          </a:p>
          <a:p>
            <a:endParaRPr lang="en-IN" sz="1200" dirty="0"/>
          </a:p>
          <a:p>
            <a:r>
              <a:rPr lang="en-IN" sz="1200" dirty="0"/>
              <a:t>app.run(debug=True)</a:t>
            </a:r>
          </a:p>
          <a:p>
            <a:br>
              <a:rPr lang="en-IN" sz="1200" dirty="0"/>
            </a:br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029592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A2D544-0875-134D-68CA-68233DBDCBC1}"/>
              </a:ext>
            </a:extLst>
          </p:cNvPr>
          <p:cNvSpPr txBox="1"/>
          <p:nvPr/>
        </p:nvSpPr>
        <p:spPr>
          <a:xfrm>
            <a:off x="111512" y="211873"/>
            <a:ext cx="14251259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:Index.html</a:t>
            </a:r>
          </a:p>
          <a:p>
            <a:r>
              <a:rPr lang="en-IN" sz="1600" dirty="0"/>
              <a:t>&lt;!DOCTYPE html&gt;</a:t>
            </a:r>
          </a:p>
          <a:p>
            <a:r>
              <a:rPr lang="en-IN" sz="1600" dirty="0"/>
              <a:t>&lt;html&gt;</a:t>
            </a:r>
          </a:p>
          <a:p>
            <a:r>
              <a:rPr lang="en-IN" sz="1600" dirty="0"/>
              <a:t>&lt;head&gt;</a:t>
            </a:r>
          </a:p>
          <a:p>
            <a:r>
              <a:rPr lang="en-IN" sz="1600" dirty="0"/>
              <a:t>  &lt;meta charset="UTF-8"&gt;</a:t>
            </a:r>
          </a:p>
          <a:p>
            <a:r>
              <a:rPr lang="en-IN" sz="1600" dirty="0"/>
              <a:t>  &lt;title&gt;Patient Education Quiz&lt;/title&gt;</a:t>
            </a:r>
          </a:p>
          <a:p>
            <a:r>
              <a:rPr lang="en-IN" sz="1600" dirty="0"/>
              <a:t>  &lt;link rel="stylesheet" href="style.css"&gt;</a:t>
            </a:r>
          </a:p>
          <a:p>
            <a:r>
              <a:rPr lang="en-IN" sz="1600" dirty="0"/>
              <a:t>&lt;/head&gt;</a:t>
            </a:r>
          </a:p>
          <a:p>
            <a:r>
              <a:rPr lang="en-IN" sz="1600" dirty="0"/>
              <a:t>&lt;body&gt;</a:t>
            </a:r>
          </a:p>
          <a:p>
            <a:endParaRPr lang="en-IN" sz="1600" dirty="0"/>
          </a:p>
          <a:p>
            <a:r>
              <a:rPr lang="en-IN" sz="1600" dirty="0"/>
              <a:t>&lt;h1&gt;Patient Education Quiz&lt;/h1&gt;</a:t>
            </a:r>
          </a:p>
          <a:p>
            <a:endParaRPr lang="en-IN" sz="1600" dirty="0"/>
          </a:p>
          <a:p>
            <a:r>
              <a:rPr lang="en-IN" sz="1600" dirty="0"/>
              <a:t>&lt;select id="diseaseSelect"&gt;</a:t>
            </a:r>
          </a:p>
          <a:p>
            <a:r>
              <a:rPr lang="en-IN" sz="1600" dirty="0"/>
              <a:t>  &lt;option value=""&gt;Select a disease&lt;/option&gt;</a:t>
            </a:r>
          </a:p>
          <a:p>
            <a:r>
              <a:rPr lang="en-IN" sz="1600" dirty="0"/>
              <a:t>  &lt;option value="covid"&gt;COVID-19&lt;/option&gt;</a:t>
            </a:r>
          </a:p>
          <a:p>
            <a:r>
              <a:rPr lang="en-IN" sz="1600" dirty="0"/>
              <a:t>  &lt;option value="diabetes"&gt;Diabetes&lt;/option&gt;</a:t>
            </a:r>
          </a:p>
          <a:p>
            <a:r>
              <a:rPr lang="en-IN" sz="1600" dirty="0"/>
              <a:t>  &lt;option value="cardio"&gt;Cardiovascular Disease&lt;/option&gt;</a:t>
            </a:r>
          </a:p>
          <a:p>
            <a:r>
              <a:rPr lang="en-IN" sz="1600" dirty="0"/>
              <a:t>  &lt;option value="anxiety"&gt;Anxiety&lt;/option&gt;</a:t>
            </a:r>
          </a:p>
          <a:p>
            <a:r>
              <a:rPr lang="en-IN" sz="1600" dirty="0"/>
              <a:t>&lt;/select&gt;</a:t>
            </a:r>
          </a:p>
          <a:p>
            <a:endParaRPr lang="en-IN" sz="1600" dirty="0"/>
          </a:p>
          <a:p>
            <a:r>
              <a:rPr lang="en-IN" sz="1600" dirty="0"/>
              <a:t>&lt;div id="content"&gt;&lt;/div&gt;</a:t>
            </a:r>
          </a:p>
          <a:p>
            <a:br>
              <a:rPr lang="en-IN" sz="1600" dirty="0"/>
            </a:br>
            <a:endParaRPr lang="en-IN" sz="1600" dirty="0"/>
          </a:p>
          <a:p>
            <a:r>
              <a:rPr lang="en-IN" sz="1600" dirty="0"/>
              <a:t>&lt;script src="script.js"&gt;&lt;/script&gt;</a:t>
            </a:r>
          </a:p>
          <a:p>
            <a:r>
              <a:rPr lang="en-IN" sz="1600" dirty="0"/>
              <a:t>&lt;/body&gt;</a:t>
            </a:r>
          </a:p>
          <a:p>
            <a:r>
              <a:rPr lang="en-IN" sz="1600" dirty="0"/>
              <a:t>&lt;/html&gt;</a:t>
            </a:r>
          </a:p>
          <a:p>
            <a:br>
              <a:rPr lang="en-IN" sz="1600" dirty="0"/>
            </a:b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434895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103079-36F1-AA99-7B2C-C2982AE4A8A2}"/>
              </a:ext>
            </a:extLst>
          </p:cNvPr>
          <p:cNvSpPr txBox="1"/>
          <p:nvPr/>
        </p:nvSpPr>
        <p:spPr>
          <a:xfrm>
            <a:off x="100361" y="189571"/>
            <a:ext cx="14072839" cy="8248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::Script.js</a:t>
            </a:r>
          </a:p>
          <a:p>
            <a:r>
              <a:rPr lang="en-IN" sz="1100" dirty="0"/>
              <a:t>// Quiz data for 4 diseases</a:t>
            </a:r>
          </a:p>
          <a:p>
            <a:r>
              <a:rPr lang="en-IN" sz="1100" dirty="0"/>
              <a:t>const quizData = {</a:t>
            </a:r>
          </a:p>
          <a:p>
            <a:r>
              <a:rPr lang="en-IN" sz="1100" dirty="0"/>
              <a:t>  covid: {</a:t>
            </a:r>
          </a:p>
          <a:p>
            <a:r>
              <a:rPr lang="en-IN" sz="1100" dirty="0"/>
              <a:t>    name: "COVID-19",</a:t>
            </a:r>
          </a:p>
          <a:p>
            <a:r>
              <a:rPr lang="en-IN" sz="1100" dirty="0"/>
              <a:t>    questions: [</a:t>
            </a:r>
          </a:p>
          <a:p>
            <a:r>
              <a:rPr lang="en-IN" sz="1100" dirty="0"/>
              <a:t>      { q: "COVID spreads mainly through?", options: ["Water", "Air droplets", "Food", "Clothes"], a: "Air droplets" },</a:t>
            </a:r>
          </a:p>
          <a:p>
            <a:r>
              <a:rPr lang="en-IN" sz="1100" dirty="0"/>
              <a:t>      { q: "Main symptom of COVID?", options: ["Fever", "Hair loss", "Toothache", "Blurred vision"], a: "Fever" },</a:t>
            </a:r>
          </a:p>
          <a:p>
            <a:r>
              <a:rPr lang="en-IN" sz="1100" dirty="0"/>
              <a:t>      { q: "Best precaution?", options: ["Mask", "Jumping", "Singing", "Sleeping"], a: "Mask" },</a:t>
            </a:r>
          </a:p>
          <a:p>
            <a:r>
              <a:rPr lang="en-IN" sz="1100" dirty="0"/>
              <a:t>      { q: "COVID Test is?", options: ["RT-PCR", "X-ray", "ECG", "Blood sugar test"], a: "RT-PCR" },</a:t>
            </a:r>
          </a:p>
          <a:p>
            <a:r>
              <a:rPr lang="en-IN" sz="1100" dirty="0"/>
              <a:t>      { q: "COVID mainly affects?", options: ["Lungs", "Eyes", "Hair", "Nails"], a: "Lungs" }</a:t>
            </a:r>
          </a:p>
          <a:p>
            <a:r>
              <a:rPr lang="en-IN" sz="1100" dirty="0"/>
              <a:t>    ]</a:t>
            </a:r>
          </a:p>
          <a:p>
            <a:r>
              <a:rPr lang="en-IN" sz="1100" dirty="0"/>
              <a:t>  },</a:t>
            </a:r>
          </a:p>
          <a:p>
            <a:r>
              <a:rPr lang="en-IN" sz="1100" dirty="0"/>
              <a:t>  diabetes: {</a:t>
            </a:r>
          </a:p>
          <a:p>
            <a:r>
              <a:rPr lang="en-IN" sz="1100" dirty="0"/>
              <a:t>    name: "Diabetes",</a:t>
            </a:r>
          </a:p>
          <a:p>
            <a:r>
              <a:rPr lang="en-IN" sz="1100" dirty="0"/>
              <a:t>    questions: [</a:t>
            </a:r>
          </a:p>
          <a:p>
            <a:r>
              <a:rPr lang="en-IN" sz="1100" dirty="0"/>
              <a:t>      { q: "Which organ produces insulin?", options: ["Pancreas", "Heart", "Kidney", "Liver"], a: "Pancreas" },</a:t>
            </a:r>
          </a:p>
          <a:p>
            <a:r>
              <a:rPr lang="en-IN" sz="1100" dirty="0"/>
              <a:t>      { q: "High blood sugar is called?", options: ["Hyperglycemia", "Hypoglycemia", "Anemia", "Hypertension"], a: "Hyperglycemia" },</a:t>
            </a:r>
          </a:p>
          <a:p>
            <a:r>
              <a:rPr lang="en-IN" sz="1100" dirty="0"/>
              <a:t>      { q: "Best exercise for diabetics?", options: ["Walking", "Sleeping", "Watching TV", "Jumping"], a: "Walking" },</a:t>
            </a:r>
          </a:p>
          <a:p>
            <a:r>
              <a:rPr lang="en-IN" sz="1100" dirty="0"/>
              <a:t>      { q: "Normal fasting blood sugar?", options: ["70-100 mg/dL", "200 mg/dL", "30 mg/dL", "150-200 mg/dL"], a: "70-100 mg/dL" },</a:t>
            </a:r>
          </a:p>
          <a:p>
            <a:r>
              <a:rPr lang="en-IN" sz="1100" dirty="0"/>
              <a:t>      { q: "Diabetes can cause?", options: ["Vision problems", "Hair growth", "Fever", "Toothache"], a: "Vision problems" }</a:t>
            </a:r>
          </a:p>
          <a:p>
            <a:r>
              <a:rPr lang="en-IN" sz="1100" dirty="0"/>
              <a:t>    ]</a:t>
            </a:r>
          </a:p>
          <a:p>
            <a:r>
              <a:rPr lang="en-IN" sz="1100" dirty="0"/>
              <a:t>  },</a:t>
            </a:r>
          </a:p>
          <a:p>
            <a:r>
              <a:rPr lang="en-IN" sz="1100" dirty="0"/>
              <a:t>  cardio: {</a:t>
            </a:r>
          </a:p>
          <a:p>
            <a:r>
              <a:rPr lang="en-IN" sz="1100" dirty="0"/>
              <a:t>    name: "Cardiovascular Disease",</a:t>
            </a:r>
          </a:p>
          <a:p>
            <a:r>
              <a:rPr lang="en-IN" sz="1100" dirty="0"/>
              <a:t>    questions: [</a:t>
            </a:r>
          </a:p>
          <a:p>
            <a:r>
              <a:rPr lang="en-IN" sz="1100" dirty="0"/>
              <a:t>      { q: "Heart disease risk factor?", options: ["Smoking", "Sleeping", "Walking", "Reading"], a: "Smoking" },</a:t>
            </a:r>
          </a:p>
          <a:p>
            <a:r>
              <a:rPr lang="en-IN" sz="1100" dirty="0"/>
              <a:t>      { q: "High blood pressure is called?", options: ["Hypertension", "Hypotension", "Diabetes", "Anemia"], a: "Hypertension" },</a:t>
            </a:r>
          </a:p>
          <a:p>
            <a:r>
              <a:rPr lang="en-IN" sz="1100" dirty="0"/>
              <a:t>      { q: "Good for heart?", options: ["Exercise", "Smoking", "Junk food", "Stress"], a: "Exercise" },</a:t>
            </a:r>
          </a:p>
          <a:p>
            <a:r>
              <a:rPr lang="en-IN" sz="1100" dirty="0"/>
              <a:t>      { q: "Common symptom?", options: ["Chest pain", "Hair fall", "Cough", "Blurred vision"], a: "Chest pain" },</a:t>
            </a:r>
          </a:p>
          <a:p>
            <a:r>
              <a:rPr lang="en-IN" sz="1100" dirty="0"/>
              <a:t>      { q: "Heart pumps?", options: ["Blood", "Air", "Water", "Food"], a: "Blood" }</a:t>
            </a:r>
          </a:p>
          <a:p>
            <a:r>
              <a:rPr lang="en-IN" sz="1100" dirty="0"/>
              <a:t>    ]</a:t>
            </a:r>
          </a:p>
          <a:p>
            <a:r>
              <a:rPr lang="en-IN" sz="1100" dirty="0"/>
              <a:t>  },</a:t>
            </a:r>
          </a:p>
          <a:p>
            <a:r>
              <a:rPr lang="en-IN" sz="1100" dirty="0"/>
              <a:t>  anxiety: {</a:t>
            </a:r>
          </a:p>
          <a:p>
            <a:r>
              <a:rPr lang="en-IN" sz="1100" dirty="0"/>
              <a:t>    name: "Anxiety",</a:t>
            </a:r>
          </a:p>
          <a:p>
            <a:r>
              <a:rPr lang="en-IN" sz="1100" dirty="0"/>
              <a:t>    questions: [</a:t>
            </a:r>
          </a:p>
          <a:p>
            <a:r>
              <a:rPr lang="en-IN" sz="1100" dirty="0"/>
              <a:t>      { q: "Common symptom?", options: ["Nervousness", "Hair growth", "Fever", "Cough"], a: "Nervousness" },</a:t>
            </a:r>
          </a:p>
          <a:p>
            <a:r>
              <a:rPr lang="en-IN" sz="1100" dirty="0"/>
              <a:t>      { q: "Can anxiety affect sleep?", options: ["Yes", "No", "Maybe", "Only in mornings"], a: "Yes" },</a:t>
            </a:r>
          </a:p>
          <a:p>
            <a:r>
              <a:rPr lang="en-IN" sz="1100" dirty="0"/>
              <a:t>      { q: "Best relief method?", options: ["Meditation", "Smoking", "Skipping meals", "Overthinking"], a: "Meditation" },</a:t>
            </a:r>
          </a:p>
          <a:p>
            <a:r>
              <a:rPr lang="en-IN" sz="1100" dirty="0"/>
              <a:t>      { q: "Anxiety is related to?", options: ["Brain &amp; Nervous system", "Heart", "Kidney", "Skin"], a: "Brain &amp; Nervous system" },</a:t>
            </a:r>
          </a:p>
          <a:p>
            <a:r>
              <a:rPr lang="en-IN" sz="1100" dirty="0"/>
              <a:t>      { q: "Stress increases?", options: ["Anxiety", "Hair growth", "Vision", "Height"], a: "Anxiety" }</a:t>
            </a:r>
          </a:p>
          <a:p>
            <a:r>
              <a:rPr lang="en-IN" sz="1100" dirty="0"/>
              <a:t>    ]</a:t>
            </a:r>
          </a:p>
          <a:p>
            <a:r>
              <a:rPr lang="en-IN" sz="1100" dirty="0"/>
              <a:t>  }</a:t>
            </a:r>
          </a:p>
          <a:p>
            <a:r>
              <a:rPr lang="en-IN" sz="1100" dirty="0"/>
              <a:t>};</a:t>
            </a:r>
          </a:p>
          <a:p>
            <a:br>
              <a:rPr lang="en-IN" sz="1100" dirty="0"/>
            </a:br>
            <a:endParaRPr lang="en-IN" sz="1100" dirty="0"/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732628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73E1D9-C1EA-8D3A-915D-91A8453ECF78}"/>
              </a:ext>
            </a:extLst>
          </p:cNvPr>
          <p:cNvSpPr txBox="1"/>
          <p:nvPr/>
        </p:nvSpPr>
        <p:spPr>
          <a:xfrm>
            <a:off x="0" y="223024"/>
            <a:ext cx="14496585" cy="8817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// Elements</a:t>
            </a:r>
          </a:p>
          <a:p>
            <a:r>
              <a:rPr lang="en-IN" sz="1050" dirty="0"/>
              <a:t>const diseaseSelect = document.getElementById("diseaseSelect");</a:t>
            </a:r>
          </a:p>
          <a:p>
            <a:r>
              <a:rPr lang="en-IN" sz="1050" dirty="0"/>
              <a:t>const content = document.getElementById("content");</a:t>
            </a:r>
          </a:p>
          <a:p>
            <a:br>
              <a:rPr lang="en-IN" sz="1050" dirty="0"/>
            </a:br>
            <a:r>
              <a:rPr lang="en-IN" sz="1050" dirty="0"/>
              <a:t>let currentQuiz = [];</a:t>
            </a:r>
          </a:p>
          <a:p>
            <a:r>
              <a:rPr lang="en-IN" sz="1050" dirty="0"/>
              <a:t>let score = 0;</a:t>
            </a:r>
          </a:p>
          <a:p>
            <a:endParaRPr lang="en-IN" sz="1050" dirty="0"/>
          </a:p>
          <a:p>
            <a:r>
              <a:rPr lang="en-IN" sz="1050" dirty="0"/>
              <a:t>// Event: when user selects a disease</a:t>
            </a:r>
          </a:p>
          <a:p>
            <a:r>
              <a:rPr lang="en-IN" sz="1050" dirty="0"/>
              <a:t>diseaseSelect.addEventListener("change", function () {</a:t>
            </a:r>
          </a:p>
          <a:p>
            <a:r>
              <a:rPr lang="en-IN" sz="1050" dirty="0"/>
              <a:t>  const disease = this.value;</a:t>
            </a:r>
          </a:p>
          <a:p>
            <a:r>
              <a:rPr lang="en-IN" sz="1050" dirty="0"/>
              <a:t>  if (!quizData[disease]) return;</a:t>
            </a:r>
          </a:p>
          <a:p>
            <a:br>
              <a:rPr lang="en-IN" sz="1050" dirty="0"/>
            </a:br>
            <a:endParaRPr lang="en-IN" sz="1050" dirty="0"/>
          </a:p>
          <a:p>
            <a:r>
              <a:rPr lang="en-IN" sz="1050" dirty="0"/>
              <a:t>  currentQuiz = quizData[disease].questions;</a:t>
            </a:r>
          </a:p>
          <a:p>
            <a:r>
              <a:rPr lang="en-IN" sz="1050" dirty="0"/>
              <a:t>  score = 0;</a:t>
            </a:r>
          </a:p>
          <a:p>
            <a:r>
              <a:rPr lang="en-IN" sz="1050" dirty="0"/>
              <a:t>  showQuiz();</a:t>
            </a:r>
          </a:p>
          <a:p>
            <a:r>
              <a:rPr lang="en-IN" sz="1050" dirty="0"/>
              <a:t>});</a:t>
            </a:r>
          </a:p>
          <a:p>
            <a:endParaRPr lang="en-IN" sz="1050" dirty="0"/>
          </a:p>
          <a:p>
            <a:r>
              <a:rPr lang="en-IN" sz="1050" dirty="0"/>
              <a:t>// Function to show quiz questions</a:t>
            </a:r>
          </a:p>
          <a:p>
            <a:r>
              <a:rPr lang="en-IN" sz="1050" dirty="0"/>
              <a:t>function showQuiz() {</a:t>
            </a:r>
          </a:p>
          <a:p>
            <a:r>
              <a:rPr lang="en-IN" sz="1050" dirty="0"/>
              <a:t>  let html = "&lt;h2&gt;Quiz: " + quizData[diseaseSelect.value].name + "&lt;/h2&gt;";</a:t>
            </a:r>
          </a:p>
          <a:p>
            <a:r>
              <a:rPr lang="en-IN" sz="1050" dirty="0"/>
              <a:t>  </a:t>
            </a:r>
          </a:p>
          <a:p>
            <a:r>
              <a:rPr lang="en-IN" sz="1050" dirty="0"/>
              <a:t>  currentQuiz.forEach((q, i) =&gt; {</a:t>
            </a:r>
          </a:p>
          <a:p>
            <a:r>
              <a:rPr lang="en-IN" sz="1050" dirty="0"/>
              <a:t>    html += `&lt;p&gt;&lt;b&gt;${i+1}. ${q.q}&lt;/b&gt;&lt;/p&gt;`;</a:t>
            </a:r>
          </a:p>
          <a:p>
            <a:r>
              <a:rPr lang="en-IN" sz="1050" dirty="0"/>
              <a:t>    q.options.forEach(option =&gt; {</a:t>
            </a:r>
          </a:p>
          <a:p>
            <a:r>
              <a:rPr lang="en-IN" sz="1050" dirty="0"/>
              <a:t>      html += `&lt;label&gt;</a:t>
            </a:r>
          </a:p>
          <a:p>
            <a:r>
              <a:rPr lang="en-IN" sz="1050" dirty="0"/>
              <a:t>        &lt;input type="radio" name="q${i}" value="${option}"&gt; ${option}</a:t>
            </a:r>
          </a:p>
          <a:p>
            <a:r>
              <a:rPr lang="en-IN" sz="1050" dirty="0"/>
              <a:t>      &lt;/label&gt;&lt;br&gt;`;</a:t>
            </a:r>
          </a:p>
          <a:p>
            <a:r>
              <a:rPr lang="en-IN" sz="1050" dirty="0"/>
              <a:t>    });</a:t>
            </a:r>
          </a:p>
          <a:p>
            <a:r>
              <a:rPr lang="en-IN" sz="1050" dirty="0"/>
              <a:t>  });</a:t>
            </a:r>
          </a:p>
          <a:p>
            <a:endParaRPr lang="en-IN" sz="1050" dirty="0"/>
          </a:p>
          <a:p>
            <a:r>
              <a:rPr lang="en-IN" sz="1050" dirty="0"/>
              <a:t>  html += `&lt;br&gt;&lt;button onclick="submitQuiz()"&gt;Submit Quiz&lt;/button&gt;`;</a:t>
            </a:r>
          </a:p>
          <a:p>
            <a:r>
              <a:rPr lang="en-IN" sz="1050" dirty="0"/>
              <a:t>  content.innerHTML = html;</a:t>
            </a:r>
          </a:p>
          <a:p>
            <a:r>
              <a:rPr lang="en-IN" sz="1050" dirty="0"/>
              <a:t>}</a:t>
            </a:r>
          </a:p>
          <a:p>
            <a:br>
              <a:rPr lang="en-IN" sz="1050" dirty="0"/>
            </a:br>
            <a:endParaRPr lang="en-IN" sz="1050" dirty="0"/>
          </a:p>
          <a:p>
            <a:r>
              <a:rPr lang="en-IN" sz="1050" dirty="0"/>
              <a:t>// Function to check answers and show score</a:t>
            </a:r>
          </a:p>
          <a:p>
            <a:r>
              <a:rPr lang="en-IN" sz="1050" dirty="0"/>
              <a:t>function submitQuiz() {</a:t>
            </a:r>
          </a:p>
          <a:p>
            <a:r>
              <a:rPr lang="en-IN" sz="1050" dirty="0"/>
              <a:t>  currentQuiz.forEach((q, i) =&gt; {</a:t>
            </a:r>
          </a:p>
          <a:p>
            <a:r>
              <a:rPr lang="en-IN" sz="1050" dirty="0"/>
              <a:t>    const selected = document.querySelector(`input[name=q${i}]:checked`);</a:t>
            </a:r>
          </a:p>
          <a:p>
            <a:r>
              <a:rPr lang="en-IN" sz="1050" dirty="0"/>
              <a:t>    if (selected &amp;&amp; selected.value === q.a) score++;</a:t>
            </a:r>
          </a:p>
          <a:p>
            <a:r>
              <a:rPr lang="en-IN" sz="1050" dirty="0"/>
              <a:t>  });</a:t>
            </a:r>
          </a:p>
          <a:p>
            <a:br>
              <a:rPr lang="en-IN" sz="1050" dirty="0"/>
            </a:br>
            <a:endParaRPr lang="en-IN" sz="1050" dirty="0"/>
          </a:p>
          <a:p>
            <a:r>
              <a:rPr lang="en-IN" sz="1050" dirty="0"/>
              <a:t>  content.innerHTML = `&lt;h2&gt;Quiz Result&lt;/h2&gt;</a:t>
            </a:r>
          </a:p>
          <a:p>
            <a:r>
              <a:rPr lang="en-IN" sz="1050" dirty="0"/>
              <a:t>    &lt;p&gt;Your Score: ${score} / ${currentQuiz.length}&lt;/p&gt;</a:t>
            </a:r>
          </a:p>
          <a:p>
            <a:r>
              <a:rPr lang="en-IN" sz="1050" dirty="0"/>
              <a:t>    &lt;p&gt;Correct Answers:&lt;/p&gt;</a:t>
            </a:r>
          </a:p>
          <a:p>
            <a:r>
              <a:rPr lang="en-IN" sz="1050" dirty="0"/>
              <a:t>    ${currentQuiz.map((q,i)=&gt;`&lt;p&gt;${i+1}. ${q.q} &lt;b&gt;Answer:&lt;/b&gt; ${q.a}&lt;/p&gt;`).join("")}</a:t>
            </a:r>
          </a:p>
          <a:p>
            <a:r>
              <a:rPr lang="en-IN" sz="1050" dirty="0"/>
              <a:t>  `;</a:t>
            </a:r>
          </a:p>
          <a:p>
            <a:r>
              <a:rPr lang="en-IN" sz="1050" dirty="0"/>
              <a:t>}</a:t>
            </a:r>
          </a:p>
          <a:p>
            <a:br>
              <a:rPr lang="en-IN" sz="1050" dirty="0"/>
            </a:br>
            <a:endParaRPr lang="en-IN" sz="1050" dirty="0"/>
          </a:p>
          <a:p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4228776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611BA7-E118-F95C-E6D8-2E78E8FCD43B}"/>
              </a:ext>
            </a:extLst>
          </p:cNvPr>
          <p:cNvSpPr txBox="1"/>
          <p:nvPr/>
        </p:nvSpPr>
        <p:spPr>
          <a:xfrm>
            <a:off x="200722" y="334537"/>
            <a:ext cx="1410629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Style.css</a:t>
            </a:r>
          </a:p>
          <a:p>
            <a:r>
              <a:rPr lang="en-IN" dirty="0"/>
              <a:t>body {</a:t>
            </a:r>
          </a:p>
          <a:p>
            <a:r>
              <a:rPr lang="en-IN" dirty="0"/>
              <a:t>  font-family: Arial;</a:t>
            </a:r>
          </a:p>
          <a:p>
            <a:r>
              <a:rPr lang="en-IN" dirty="0"/>
              <a:t>  padding: 20px;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#content {</a:t>
            </a:r>
          </a:p>
          <a:p>
            <a:r>
              <a:rPr lang="en-IN" dirty="0"/>
              <a:t>  margin-top: 20px;</a:t>
            </a:r>
          </a:p>
          <a:p>
            <a:r>
              <a:rPr lang="en-IN" dirty="0"/>
              <a:t>  padding: 20px;</a:t>
            </a:r>
          </a:p>
          <a:p>
            <a:r>
              <a:rPr lang="en-IN" dirty="0"/>
              <a:t>  background: #fff;</a:t>
            </a:r>
          </a:p>
          <a:p>
            <a:r>
              <a:rPr lang="en-IN" dirty="0"/>
              <a:t>  border: 1px solid #ddd;</a:t>
            </a:r>
          </a:p>
          <a:p>
            <a:r>
              <a:rPr lang="en-IN" dirty="0"/>
              <a:t>}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647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92784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2570" y="442079"/>
            <a:ext cx="8018859" cy="100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Architecture: A Robust Foundation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62570" y="1687592"/>
            <a:ext cx="80188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Our system's architecture is designed for scalability, security, and efficiency, ensuring seamless delivery of educational content.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" y="2382679"/>
            <a:ext cx="7254240" cy="57585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10623" y="4639951"/>
            <a:ext cx="1303650" cy="1192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Automated Patient Education System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193075" y="2786325"/>
            <a:ext cx="1939411" cy="59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 Interfaces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93075" y="3467296"/>
            <a:ext cx="1939411" cy="476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Web and mobile access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960448" y="2905561"/>
            <a:ext cx="1939411" cy="59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Patient Data Integration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960448" y="3586532"/>
            <a:ext cx="1939411" cy="238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EMR and device sync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960448" y="6570088"/>
            <a:ext cx="1939411" cy="59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Content Management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960448" y="7251060"/>
            <a:ext cx="1939411" cy="476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Authoring and updates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193075" y="6570088"/>
            <a:ext cx="1939411" cy="59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Authentication Service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193075" y="7251060"/>
            <a:ext cx="1939411" cy="476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Secure user validation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92595" y="4800755"/>
            <a:ext cx="1981806" cy="29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API Gateway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892595" y="5183636"/>
            <a:ext cx="1981806" cy="476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Central request routing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250330" y="4662308"/>
            <a:ext cx="1981806" cy="59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Chatbot Service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250330" y="5343279"/>
            <a:ext cx="1981806" cy="476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Personalized education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62570" y="8321993"/>
            <a:ext cx="80188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modular approach allows for easy updates, maintenance, and future expansion, adapting to evolving healthcare needs and technological advancements.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681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79" y="2767727"/>
            <a:ext cx="1221128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Solutions: Addressing Key Healthcare Pain Points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79" y="3606879"/>
            <a:ext cx="6680121" cy="7258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6531" y="4514136"/>
            <a:ext cx="226814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Knowledge Gap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816531" y="4906447"/>
            <a:ext cx="631721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Provides clear, concise, and accessible medical information, breaking down complex topics into understandable segments.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606879"/>
            <a:ext cx="6680121" cy="7258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96651" y="4514136"/>
            <a:ext cx="226814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Low Adherence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7496651" y="4906447"/>
            <a:ext cx="631721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Personalised reminders, interactive guides, and progress tracking encourage consistent adherence to treatment plans.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79" y="5668447"/>
            <a:ext cx="6680121" cy="7258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6531" y="6575703"/>
            <a:ext cx="226814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 Costs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816531" y="6968014"/>
            <a:ext cx="631721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Reduces the burden on healthcare staff and prevents complications, leading to a decrease in overall healthcare expenditures.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5668447"/>
            <a:ext cx="6680121" cy="72580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96651" y="6575703"/>
            <a:ext cx="30038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Communication Barriers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7496651" y="6968014"/>
            <a:ext cx="631721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Multilingual support and a friendly chatbot overcome language and literacy barriers, fostering better patient-provider dialogue.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6383" y="1058228"/>
            <a:ext cx="7971234" cy="10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Roadmap: Phased Implementation for Success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4560570" y="2356604"/>
            <a:ext cx="22860" cy="4814649"/>
          </a:xfrm>
          <a:prstGeom prst="roundRect">
            <a:avLst>
              <a:gd name="adj" fmla="val 40000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2"/>
          <p:cNvSpPr/>
          <p:nvPr/>
        </p:nvSpPr>
        <p:spPr>
          <a:xfrm>
            <a:off x="3903702" y="2533650"/>
            <a:ext cx="502682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3"/>
          <p:cNvSpPr/>
          <p:nvPr/>
        </p:nvSpPr>
        <p:spPr>
          <a:xfrm>
            <a:off x="4383524" y="2356604"/>
            <a:ext cx="376952" cy="376952"/>
          </a:xfrm>
          <a:prstGeom prst="roundRect">
            <a:avLst>
              <a:gd name="adj" fmla="val 242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4446330" y="2388037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586383" y="2387918"/>
            <a:ext cx="3147893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Phase 1: Foundation &amp; Alpha Launch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586383" y="3116580"/>
            <a:ext cx="3147893" cy="1072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Develop core platform, implement basic chatbot functionality, and launch an alpha version with a select group of users for feedback.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37616" y="3538895"/>
            <a:ext cx="502682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Shape 8"/>
          <p:cNvSpPr/>
          <p:nvPr/>
        </p:nvSpPr>
        <p:spPr>
          <a:xfrm>
            <a:off x="4383524" y="3361849"/>
            <a:ext cx="376952" cy="376952"/>
          </a:xfrm>
          <a:prstGeom prst="roundRect">
            <a:avLst>
              <a:gd name="adj" fmla="val 242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9"/>
          <p:cNvSpPr/>
          <p:nvPr/>
        </p:nvSpPr>
        <p:spPr>
          <a:xfrm>
            <a:off x="4446330" y="3393281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5409724" y="3393162"/>
            <a:ext cx="3147893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Phase 2: Feature Expansion &amp; Beta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5409724" y="4121825"/>
            <a:ext cx="3147893" cy="1072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Integrate visual learning aids, introduce personalised learning paths, and expand to a broader beta user base.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903702" y="4700707"/>
            <a:ext cx="502682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Shape 13"/>
          <p:cNvSpPr/>
          <p:nvPr/>
        </p:nvSpPr>
        <p:spPr>
          <a:xfrm>
            <a:off x="4383524" y="4523661"/>
            <a:ext cx="376952" cy="376952"/>
          </a:xfrm>
          <a:prstGeom prst="roundRect">
            <a:avLst>
              <a:gd name="adj" fmla="val 242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Text 14"/>
          <p:cNvSpPr/>
          <p:nvPr/>
        </p:nvSpPr>
        <p:spPr>
          <a:xfrm>
            <a:off x="4446330" y="4555093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586383" y="4554974"/>
            <a:ext cx="3147893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Phase 3: Integration &amp; Official Launch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586383" y="5283637"/>
            <a:ext cx="3147893" cy="804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Full integration with patient portals, advanced analytics, and official nationwide launch.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37616" y="5784294"/>
            <a:ext cx="502682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Shape 18"/>
          <p:cNvSpPr/>
          <p:nvPr/>
        </p:nvSpPr>
        <p:spPr>
          <a:xfrm>
            <a:off x="4383524" y="5607248"/>
            <a:ext cx="376952" cy="376952"/>
          </a:xfrm>
          <a:prstGeom prst="roundRect">
            <a:avLst>
              <a:gd name="adj" fmla="val 242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2" name="Text 19"/>
          <p:cNvSpPr/>
          <p:nvPr/>
        </p:nvSpPr>
        <p:spPr>
          <a:xfrm>
            <a:off x="4446330" y="5638681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5409724" y="5638562"/>
            <a:ext cx="3147893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Phase 4: Continuous Improvement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5409724" y="6367224"/>
            <a:ext cx="3147893" cy="804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Regular content updates, AI model refinement, new feature development, and partnership expansion.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447" y="566023"/>
            <a:ext cx="13189506" cy="1286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Conclusion: A Brighter Future for Patient Education in India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508165" y="2757130"/>
            <a:ext cx="3498890" cy="38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Empowered Patients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20447" y="3266599"/>
            <a:ext cx="4286607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Knowledgeable patients are active participants in their health.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054" y="2264331"/>
            <a:ext cx="4616291" cy="461629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8633" y="3728918"/>
            <a:ext cx="289441" cy="2894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23346" y="2346722"/>
            <a:ext cx="3407807" cy="38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Improved Outcomes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9623346" y="2856190"/>
            <a:ext cx="4286607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Better understanding leads to better health results.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7054" y="2264331"/>
            <a:ext cx="4616291" cy="461629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37728" y="3297079"/>
            <a:ext cx="289441" cy="2894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35064" y="3988356"/>
            <a:ext cx="3357205" cy="38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Efficient Healthcare</a:t>
            </a: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10035064" y="4497824"/>
            <a:ext cx="3874889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Streamlined processes benefit both patients and providers.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7054" y="2264331"/>
            <a:ext cx="4616291" cy="4616291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59021" y="4427696"/>
            <a:ext cx="289441" cy="28944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23346" y="5629989"/>
            <a:ext cx="3877985" cy="38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Accessible Information</a:t>
            </a:r>
            <a:endParaRPr lang="en-US" sz="2400" dirty="0"/>
          </a:p>
        </p:txBody>
      </p:sp>
      <p:sp>
        <p:nvSpPr>
          <p:cNvPr id="16" name="Text 8"/>
          <p:cNvSpPr/>
          <p:nvPr/>
        </p:nvSpPr>
        <p:spPr>
          <a:xfrm>
            <a:off x="9623346" y="6139458"/>
            <a:ext cx="4286607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Health literacy for everyone, everywhere in India.</a:t>
            </a:r>
            <a:endParaRPr lang="en-US" sz="16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7054" y="2264331"/>
            <a:ext cx="4616291" cy="4616291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37728" y="5558195"/>
            <a:ext cx="289441" cy="289441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404461" y="5219581"/>
            <a:ext cx="3602593" cy="38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Future-Ready System</a:t>
            </a:r>
            <a:endParaRPr lang="en-US" sz="2400" dirty="0"/>
          </a:p>
        </p:txBody>
      </p:sp>
      <p:sp>
        <p:nvSpPr>
          <p:cNvPr id="20" name="Text 10"/>
          <p:cNvSpPr/>
          <p:nvPr/>
        </p:nvSpPr>
        <p:spPr>
          <a:xfrm>
            <a:off x="720447" y="5729049"/>
            <a:ext cx="4286607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Continuously evolving with technology and patient needs.</a:t>
            </a:r>
            <a:endParaRPr lang="en-US" sz="16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07054" y="2264331"/>
            <a:ext cx="4616291" cy="4616291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08633" y="5126355"/>
            <a:ext cx="289441" cy="289441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720447" y="7112198"/>
            <a:ext cx="13189506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Automated Patient Education System is more than just a tool; it's a commitment to a healthier, more informed India. By leveraging technology, we can empower every patient to take control of their health journey.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2593</Words>
  <Application>Microsoft Office PowerPoint</Application>
  <PresentationFormat>Custom</PresentationFormat>
  <Paragraphs>272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Montserrat Black</vt:lpstr>
      <vt:lpstr>Inconsolata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Vaibhav Ranjan</dc:creator>
  <cp:lastModifiedBy>Vaibhav Ranjan</cp:lastModifiedBy>
  <cp:revision>3</cp:revision>
  <dcterms:created xsi:type="dcterms:W3CDTF">2025-12-03T17:46:23Z</dcterms:created>
  <dcterms:modified xsi:type="dcterms:W3CDTF">2026-02-18T13:08:12Z</dcterms:modified>
</cp:coreProperties>
</file>